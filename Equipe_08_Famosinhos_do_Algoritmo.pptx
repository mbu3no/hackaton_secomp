
<file path=[Content_Types].xml><?xml version="1.0" encoding="utf-8"?>
<Types xmlns="http://schemas.openxmlformats.org/package/2006/content-types"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Somos a equipe do Vaga Fantasma. Nosso projeto resolve um problema que toda universidade tem em época de prova, usando visão computacional.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Imaginem a biblioteca da universidade na semana de provas. Metade das cadeiras ‘ocupadas’ tem só uma mochila em cima. O dono saiu há duas horas.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 aqui está a sacada. Contar cabeças não resolve, porque o problema não é uma pessoa. É um objeto. A gente ensinou a câmera a ver a diferença.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Nossa solução classifica cada assento em três estados, não dois. Livre, ocupado e o estado que dá nome ao projeto: fantasma.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pipeline tem três etapas. O pulo do gato é a terceira: enquanto o exemplo padrão só responde ‘o que há neste frame’, a gente responde ‘há quanto tempo isto está assim’.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DEIXA: trocar para a aplicação aqui. Mostrar a mochila numa cadeira, sair de quadro, e o assento virar fantasma sozinho no painel. Chamar um jurado para colocar a mochila dá mais impacto.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decisões que valem citar: modelo pré-treinado, associação por sobreposição em vez de IoU, planta por homografia, dashboard offline, e privacidade por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Somos transparentes sobre os limites: oclusão, ângulo fixo, tolerância heurística. E há um roadmap claro: múltiplas câmeras, histórico, integração com o app, e re-identificação do dono.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Somos transparentes sobre os limites: oclusão, ângulo fixo, tolerância heurística. E há um roadmap claro: múltiplas câmeras, histórico, integração com o app, e re-identificação do dono.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31520"/>
            <a:ext cx="292608" cy="292608"/>
          </a:xfrm>
          <a:prstGeom prst="ellipse">
            <a:avLst/>
          </a:prstGeom>
          <a:solidFill>
            <a:srgbClr val="22C55E"/>
          </a:solidFill>
        </p:spPr>
      </p:sp>
      <p:sp>
        <p:nvSpPr>
          <p:cNvPr id="3" name="Shape 1"/>
          <p:cNvSpPr/>
          <p:nvPr/>
        </p:nvSpPr>
        <p:spPr>
          <a:xfrm>
            <a:off x="1078992" y="731520"/>
            <a:ext cx="292608" cy="292608"/>
          </a:xfrm>
          <a:prstGeom prst="ellipse">
            <a:avLst/>
          </a:prstGeom>
          <a:solidFill>
            <a:srgbClr val="EF4444"/>
          </a:solidFill>
        </p:spPr>
      </p:sp>
      <p:sp>
        <p:nvSpPr>
          <p:cNvPr id="4" name="Shape 2"/>
          <p:cNvSpPr/>
          <p:nvPr/>
        </p:nvSpPr>
        <p:spPr>
          <a:xfrm>
            <a:off x="1517904" y="731520"/>
            <a:ext cx="292608" cy="292608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5" name="Text 3"/>
          <p:cNvSpPr txBox="1"/>
          <p:nvPr/>
        </p:nvSpPr>
        <p:spPr>
          <a:xfrm>
            <a:off x="658495" y="1391285"/>
            <a:ext cx="109728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Vaga Fantasma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821305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Ocupação real de salas de estudo com Visão Computacional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60350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Hackathon SECOMP 2026   ·   Visão Computacional na Logística Universitária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3834765"/>
            <a:ext cx="10515600" cy="1986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altLang="en-US" b="1" u="sng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Grupo 08: Famosinhos do Algoritmo</a:t>
            </a:r>
            <a:endParaRPr lang="pt-BR" altLang="en-US" b="1" u="sng" dirty="0">
              <a:solidFill>
                <a:srgbClr val="B45309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endParaRPr lang="pt-BR" altLang="en-US" b="1" dirty="0">
              <a:solidFill>
                <a:srgbClr val="B45309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pt-BR" altLang="en-US" b="1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 Frederico Pires de Moraes Gomes</a:t>
            </a:r>
            <a:endParaRPr lang="pt-BR" altLang="en-US" b="1" dirty="0">
              <a:solidFill>
                <a:srgbClr val="B45309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pt-BR" altLang="en-US" b="1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 Gustavo Felipe Ferreira Soares</a:t>
            </a:r>
            <a:endParaRPr lang="pt-BR" altLang="en-US" b="1" dirty="0">
              <a:solidFill>
                <a:srgbClr val="B45309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pt-BR" altLang="en-US" b="1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 Lucas Assunção Zanon</a:t>
            </a:r>
            <a:endParaRPr lang="pt-BR" altLang="en-US" b="1" dirty="0">
              <a:solidFill>
                <a:srgbClr val="B45309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pt-BR" altLang="en-US" b="1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 Matheus Lucas Tavares Bueno</a:t>
            </a:r>
            <a:endParaRPr lang="pt-BR" altLang="en-US" b="1" dirty="0">
              <a:solidFill>
                <a:srgbClr val="B45309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pt-BR" altLang="en-US" b="1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 Robson Dias Carvalho Soares</a:t>
            </a:r>
            <a:endParaRPr lang="pt-BR" altLang="en-US" b="1" dirty="0">
              <a:solidFill>
                <a:srgbClr val="B45309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C26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 PROBLEMA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biblioteca lota sem estar cheia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377440"/>
            <a:ext cx="6217920" cy="2560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spcAft>
                <a:spcPts val="1200"/>
              </a:spcAft>
              <a:buNone/>
            </a:pPr>
            <a:r>
              <a:rPr lang="en-US" sz="19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 época de prova, alunos marcam lugar com a mochila e somem por horas.</a:t>
            </a:r>
            <a:endParaRPr lang="en-US" sz="1900" dirty="0"/>
          </a:p>
          <a:p>
            <a:pPr marL="0" indent="0">
              <a:lnSpc>
                <a:spcPct val="110000"/>
              </a:lnSpc>
              <a:spcAft>
                <a:spcPts val="1200"/>
              </a:spcAft>
              <a:buNone/>
            </a:pPr>
            <a:r>
              <a:rPr lang="en-US" sz="19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Quem chega vê a sala cheia e desiste.</a:t>
            </a:r>
            <a:endParaRPr lang="en-US" sz="19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gestão vê 100% de ocupação e conclui que falta espaço.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269480" y="2194560"/>
            <a:ext cx="4297680" cy="274320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blurRad="114300" dist="25400" dir="5400000" algn="bl" rotWithShape="0">
              <a:srgbClr val="334155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80960" y="2651760"/>
            <a:ext cx="292608" cy="292608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7" name="Text 5"/>
          <p:cNvSpPr txBox="1"/>
          <p:nvPr/>
        </p:nvSpPr>
        <p:spPr>
          <a:xfrm>
            <a:off x="8183880" y="2542032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Falta USO do espaço,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183880" y="2944368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não falta espaço.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680960" y="3657600"/>
            <a:ext cx="356616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Uma cadeira ocupada só por uma mochila continua contando como ocupada.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VIRADA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Contar pessoas não basta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69748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 assento não está ocupado por uma pessoa.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42900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Está ocupado por um </a:t>
            </a:r>
            <a:r>
              <a:rPr lang="en-US" sz="3300" b="1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objeto</a:t>
            </a:r>
            <a:r>
              <a:rPr lang="en-US" sz="33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</a:t>
            </a:r>
            <a:endParaRPr lang="en-US" sz="3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61772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Todo sistema de contagem tradicional é cego para isso.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580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SOLUÇÃO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Três estados</a:t>
            </a:r>
            <a:r>
              <a:rPr lang="pt-BR" altLang="en-US" sz="40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analisados</a:t>
            </a:r>
            <a:endParaRPr lang="pt-BR" altLang="en-US" sz="4000" b="1" dirty="0">
              <a:solidFill>
                <a:srgbClr val="0F172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74980" y="2286000"/>
            <a:ext cx="3429000" cy="3931920"/>
          </a:xfrm>
          <a:prstGeom prst="roundRect">
            <a:avLst>
              <a:gd name="adj" fmla="val 3200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blurRad="114300" dist="25400" dir="5400000" algn="bl" rotWithShape="0">
              <a:srgbClr val="334155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180" y="2788920"/>
            <a:ext cx="502920" cy="502920"/>
          </a:xfrm>
          <a:prstGeom prst="ellipse">
            <a:avLst/>
          </a:prstGeom>
          <a:solidFill>
            <a:srgbClr val="22C55E"/>
          </a:solidFill>
        </p:spPr>
      </p:sp>
      <p:sp>
        <p:nvSpPr>
          <p:cNvPr id="6" name="Text 4"/>
          <p:cNvSpPr txBox="1"/>
          <p:nvPr/>
        </p:nvSpPr>
        <p:spPr>
          <a:xfrm>
            <a:off x="932180" y="3566160"/>
            <a:ext cx="2514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80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LIVRE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932180" y="4206240"/>
            <a:ext cx="2606040" cy="1737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Nenhuma pessoa e nenhum objeto no assento.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06900" y="2286000"/>
            <a:ext cx="3429000" cy="3931920"/>
          </a:xfrm>
          <a:prstGeom prst="roundRect">
            <a:avLst>
              <a:gd name="adj" fmla="val 3200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blurRad="114300" dist="25400" dir="5400000" algn="bl" rotWithShape="0">
              <a:srgbClr val="334155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64100" y="2788920"/>
            <a:ext cx="502920" cy="502920"/>
          </a:xfrm>
          <a:prstGeom prst="ellipse">
            <a:avLst/>
          </a:prstGeom>
          <a:solidFill>
            <a:srgbClr val="EF4444"/>
          </a:solidFill>
        </p:spPr>
      </p:sp>
      <p:sp>
        <p:nvSpPr>
          <p:cNvPr id="10" name="Text 8"/>
          <p:cNvSpPr txBox="1"/>
          <p:nvPr/>
        </p:nvSpPr>
        <p:spPr>
          <a:xfrm>
            <a:off x="4864100" y="3566160"/>
            <a:ext cx="2514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C26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OCUPADO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4864100" y="4206240"/>
            <a:ext cx="2606040" cy="1737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Pessoa presente, ou objeto ainda dentro do período de tolerância.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338820" y="2286000"/>
            <a:ext cx="3429000" cy="3931920"/>
          </a:xfrm>
          <a:prstGeom prst="roundRect">
            <a:avLst>
              <a:gd name="adj" fmla="val 3200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blurRad="114300" dist="25400" dir="5400000" algn="bl" rotWithShape="0">
              <a:srgbClr val="334155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796020" y="2788920"/>
            <a:ext cx="502920" cy="502920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14" name="Text 12"/>
          <p:cNvSpPr txBox="1"/>
          <p:nvPr/>
        </p:nvSpPr>
        <p:spPr>
          <a:xfrm>
            <a:off x="8796020" y="3566160"/>
            <a:ext cx="2514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FANTASMA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8796020" y="4206240"/>
            <a:ext cx="2606040" cy="1737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Objeto sem dono há mais que X minutos. Dispara alerta e libera a vaga.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VISÃO COMPUTACIONAL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abordagem técnica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33705" y="2377440"/>
            <a:ext cx="3566160" cy="2926080"/>
          </a:xfrm>
          <a:prstGeom prst="roundRect">
            <a:avLst>
              <a:gd name="adj" fmla="val 3750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blurRad="114300" dist="25400" dir="5400000" algn="bl" rotWithShape="0">
              <a:srgbClr val="334155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5185" y="2788920"/>
            <a:ext cx="502920" cy="502920"/>
          </a:xfrm>
          <a:prstGeom prst="ellipse">
            <a:avLst/>
          </a:prstGeom>
          <a:solidFill>
            <a:srgbClr val="3B82F6"/>
          </a:solidFill>
        </p:spPr>
      </p:sp>
      <p:sp>
        <p:nvSpPr>
          <p:cNvPr id="6" name="Text 4"/>
          <p:cNvSpPr txBox="1"/>
          <p:nvPr/>
        </p:nvSpPr>
        <p:spPr>
          <a:xfrm>
            <a:off x="845185" y="27889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45185" y="3566160"/>
            <a:ext cx="2834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Captura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845185" y="4114800"/>
            <a:ext cx="278892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Câmera fixa ou celular como câmera IP transmite o vídeo ao vivo.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981577" y="3429000"/>
            <a:ext cx="3657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»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319905" y="2377440"/>
            <a:ext cx="3566160" cy="2926080"/>
          </a:xfrm>
          <a:prstGeom prst="roundRect">
            <a:avLst>
              <a:gd name="adj" fmla="val 3750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blurRad="114300" dist="25400" dir="5400000" algn="bl" rotWithShape="0">
              <a:srgbClr val="334155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31385" y="2788920"/>
            <a:ext cx="502920" cy="502920"/>
          </a:xfrm>
          <a:prstGeom prst="ellipse">
            <a:avLst/>
          </a:prstGeom>
          <a:solidFill>
            <a:srgbClr val="22C55E"/>
          </a:solidFill>
        </p:spPr>
      </p:sp>
      <p:sp>
        <p:nvSpPr>
          <p:cNvPr id="12" name="Text 10"/>
          <p:cNvSpPr txBox="1"/>
          <p:nvPr/>
        </p:nvSpPr>
        <p:spPr>
          <a:xfrm>
            <a:off x="4731385" y="27889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731385" y="3566160"/>
            <a:ext cx="2834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Detecção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4731385" y="4114800"/>
            <a:ext cx="278892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YOLOv8 pré-treinado detecta pessoas e pertences. Sem treino.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867777" y="3429000"/>
            <a:ext cx="3657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»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206105" y="2377440"/>
            <a:ext cx="3566160" cy="2926080"/>
          </a:xfrm>
          <a:prstGeom prst="roundRect">
            <a:avLst>
              <a:gd name="adj" fmla="val 3750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blurRad="114300" dist="25400" dir="5400000" algn="bl" rotWithShape="0">
              <a:srgbClr val="334155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17585" y="2788920"/>
            <a:ext cx="502920" cy="502920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18" name="Text 16"/>
          <p:cNvSpPr txBox="1"/>
          <p:nvPr/>
        </p:nvSpPr>
        <p:spPr>
          <a:xfrm>
            <a:off x="8617585" y="27889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8617585" y="3566160"/>
            <a:ext cx="2834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Estado temporal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8617585" y="4114800"/>
            <a:ext cx="278892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Uma máquina de estados por assento decide livre, ocupado ou fantasma.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57607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Estendemos o pipeline padrão — que só vê um instante — com memória temporal que entende o que mudou ao longo do tempo.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 txBox="1"/>
          <p:nvPr/>
        </p:nvSpPr>
        <p:spPr>
          <a:xfrm>
            <a:off x="609600" y="234315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Demonstração</a:t>
            </a:r>
            <a:endParaRPr lang="en-US" sz="4800" dirty="0"/>
          </a:p>
        </p:txBody>
      </p:sp>
      <p:pic>
        <p:nvPicPr>
          <p:cNvPr id="7" name="video_hackaton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117090" y="1446530"/>
            <a:ext cx="7958455" cy="47955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ENGENHARIA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Principais decisões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85800" y="2395728"/>
            <a:ext cx="182880" cy="182880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5" name="Text 3"/>
          <p:cNvSpPr txBox="1"/>
          <p:nvPr/>
        </p:nvSpPr>
        <p:spPr>
          <a:xfrm>
            <a:off x="1097280" y="2286000"/>
            <a:ext cx="10424160" cy="7498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YOLOv8 pré-treinado no COCO   </a:t>
            </a:r>
            <a:r>
              <a:rPr lang="en-US" sz="18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Zero treino. Cabe no tempo do hackathon.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" y="3236976"/>
            <a:ext cx="182880" cy="182880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7" name="Text 5"/>
          <p:cNvSpPr txBox="1"/>
          <p:nvPr/>
        </p:nvSpPr>
        <p:spPr>
          <a:xfrm>
            <a:off x="1097280" y="3127248"/>
            <a:ext cx="10424160" cy="7498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Associação por sobreposição, não IoU   </a:t>
            </a:r>
            <a:r>
              <a:rPr lang="en-US" sz="18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Lida com pessoa grande e objeto pequeno no mesmo assento.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85800" y="4078224"/>
            <a:ext cx="182880" cy="182880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9" name="Text 7"/>
          <p:cNvSpPr txBox="1"/>
          <p:nvPr/>
        </p:nvSpPr>
        <p:spPr>
          <a:xfrm>
            <a:off x="1097280" y="3968496"/>
            <a:ext cx="10424160" cy="7498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Planta baixa por homografia   </a:t>
            </a:r>
            <a:r>
              <a:rPr lang="en-US" sz="18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Vista de cima da sala</a:t>
            </a:r>
            <a:r>
              <a:rPr lang="pt-BR" altLang="en-US" sz="18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</a:t>
            </a:r>
            <a:r>
              <a:rPr lang="en-US" sz="18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em tempo real.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85800" y="4919472"/>
            <a:ext cx="182880" cy="182880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11" name="Text 9"/>
          <p:cNvSpPr txBox="1"/>
          <p:nvPr/>
        </p:nvSpPr>
        <p:spPr>
          <a:xfrm>
            <a:off x="1097280" y="4809744"/>
            <a:ext cx="10424160" cy="7498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 sem internet   </a:t>
            </a:r>
            <a:r>
              <a:rPr lang="en-US" sz="18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Funciona offline no dia do pitch.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85800" y="5760720"/>
            <a:ext cx="182880" cy="182880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13" name="Text 11"/>
          <p:cNvSpPr txBox="1"/>
          <p:nvPr/>
        </p:nvSpPr>
        <p:spPr>
          <a:xfrm>
            <a:off x="1097280" y="5650992"/>
            <a:ext cx="10424160" cy="7498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Não identifica ninguém   </a:t>
            </a:r>
            <a:r>
              <a:rPr lang="en-US" sz="18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Respeita privacidade. Vantagem de LGPD sobre reconhecimento facial.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C26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HONESTIDADE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Limitações e próximos passos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349240" cy="3749040"/>
          </a:xfrm>
          <a:prstGeom prst="roundRect">
            <a:avLst>
              <a:gd name="adj" fmla="val 2927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blurRad="114300" dist="25400" dir="5400000" algn="bl" rotWithShape="0">
              <a:srgbClr val="334155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51560" y="260604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C26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Limitações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3200400"/>
            <a:ext cx="4663440" cy="2651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Oclusão entre pessoas próximas</a:t>
            </a:r>
            <a:endParaRPr lang="en-US" sz="16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Ângulo fixo da câmera (mover exige recalibrar)</a:t>
            </a:r>
            <a:endParaRPr lang="en-US" sz="16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Tolerância em minutos é uma heurística de operação</a:t>
            </a:r>
            <a:endParaRPr lang="en-US" sz="1600" dirty="0"/>
          </a:p>
          <a:p>
            <a:pPr marL="190500" indent="-1905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Objetos pequenos detectam pior que mochilas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72200" y="2286000"/>
            <a:ext cx="5349240" cy="3749040"/>
          </a:xfrm>
          <a:prstGeom prst="roundRect">
            <a:avLst>
              <a:gd name="adj" fmla="val 2927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blurRad="114300" dist="25400" dir="5400000" algn="bl" rotWithShape="0">
              <a:srgbClr val="334155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83680" y="260604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580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Trabalhos futuros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3200400"/>
            <a:ext cx="4663440" cy="2651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Múltiplas câmeras por sala e por andar</a:t>
            </a:r>
            <a:endParaRPr lang="en-US" sz="16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Histórico e previsão de ocupação por horário</a:t>
            </a:r>
            <a:endParaRPr lang="en-US" sz="16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Integração com o app da universidade</a:t>
            </a:r>
            <a:endParaRPr lang="en-US" sz="1600" dirty="0"/>
          </a:p>
          <a:p>
            <a:pPr marL="190500" indent="-1905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Reconhecer o retorno do mesmo dono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09600" y="1464945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altLang="en-US" sz="40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Link para o GitHub</a:t>
            </a:r>
            <a:endParaRPr lang="pt-BR" altLang="en-US" sz="4000" b="1" dirty="0">
              <a:solidFill>
                <a:srgbClr val="0F172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1" name="Caixa de Texto 10"/>
          <p:cNvSpPr txBox="1"/>
          <p:nvPr/>
        </p:nvSpPr>
        <p:spPr>
          <a:xfrm>
            <a:off x="1725295" y="3509010"/>
            <a:ext cx="87414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pt-BR" sz="2400" b="1"/>
              <a:t>https://github.com/mbu3no/Hackaton_SECOMP</a:t>
            </a:r>
            <a:endParaRPr lang="en-US" altLang="pt-BR" sz="2400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2273</Words>
  <Application>WPS Presentation</Application>
  <PresentationFormat>On-screen Show (16:9)</PresentationFormat>
  <Paragraphs>120</Paragraphs>
  <Slides>9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19" baseType="lpstr">
      <vt:lpstr>Arial</vt:lpstr>
      <vt:lpstr>SimSun</vt:lpstr>
      <vt:lpstr>Wingdings</vt:lpstr>
      <vt:lpstr>Calibri</vt:lpstr>
      <vt:lpstr>Calibri</vt:lpstr>
      <vt:lpstr>Calibri</vt:lpstr>
      <vt:lpstr>Microsoft YaHei</vt:lpstr>
      <vt:lpstr>Arial Unicode MS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Matheus Bueno</cp:lastModifiedBy>
  <cp:revision>3</cp:revision>
  <dcterms:created xsi:type="dcterms:W3CDTF">2026-09-20T17:05:00Z</dcterms:created>
  <dcterms:modified xsi:type="dcterms:W3CDTF">2026-09-20T19:23:32Z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1046-12.1.0.28485</vt:lpwstr>
  </property>
  <property fmtid="{D5CDD505-2E9C-101B-9397-08002B2CF9AE}" pid="3" name="ICV">
    <vt:lpwstr>8BB6B862A5A84252AC7B87F836747C40_13</vt:lpwstr>
  </property>
</Properties>
</file>